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3BB0E-38AA-4F59-A294-50D7877328E7}" v="58" dt="2026-10-01T09:22:16.0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9262" y="555550"/>
            <a:ext cx="9144000" cy="2316702"/>
          </a:xfrm>
        </p:spPr>
        <p:txBody>
          <a:bodyPr lIns="91440" tIns="45720" rIns="91440" bIns="45720" anchor="b"/>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r>
              <a:rPr lang="en-US" sz="4000" b="1" dirty="0">
                <a:solidFill>
                  <a:srgbClr val="C00000"/>
                </a:solidFill>
                <a:latin typeface="+mn-lt"/>
              </a:rPr>
              <a:t>Automated Log Error Monitoring System</a:t>
            </a:r>
            <a:endParaRPr lang="en-US" dirty="0">
              <a:solidFill>
                <a:srgbClr val="C00000"/>
              </a:solidFill>
              <a:ea typeface="Calibri Light"/>
              <a:cs typeface="Calibri Light"/>
            </a:endParaRPr>
          </a:p>
        </p:txBody>
      </p:sp>
      <p:sp>
        <p:nvSpPr>
          <p:cNvPr id="3" name="Subtitle 2"/>
          <p:cNvSpPr>
            <a:spLocks noGrp="1"/>
          </p:cNvSpPr>
          <p:nvPr>
            <p:ph type="subTitle" idx="1"/>
          </p:nvPr>
        </p:nvSpPr>
        <p:spPr>
          <a:xfrm>
            <a:off x="4270160" y="3116425"/>
            <a:ext cx="4551284" cy="1396014"/>
          </a:xfrm>
        </p:spPr>
        <p:txBody>
          <a:bodyPr lIns="91440" tIns="45720" rIns="91440" bIns="45720" anchor="t"/>
          <a:lstStyle/>
          <a:p>
            <a:r>
              <a:rPr lang="en-US" dirty="0">
                <a:solidFill>
                  <a:srgbClr val="0070C0"/>
                </a:solidFill>
              </a:rPr>
              <a:t>Team Members</a:t>
            </a:r>
          </a:p>
          <a:p>
            <a:r>
              <a:rPr lang="en-US" dirty="0">
                <a:solidFill>
                  <a:srgbClr val="0070C0"/>
                </a:solidFill>
              </a:rPr>
              <a:t>2520030258 – Sai Saranya</a:t>
            </a:r>
            <a:endParaRPr lang="en-US" dirty="0"/>
          </a:p>
          <a:p>
            <a:r>
              <a:rPr lang="en-US" dirty="0">
                <a:solidFill>
                  <a:srgbClr val="0070C0"/>
                </a:solidFill>
                <a:latin typeface="Calibri"/>
                <a:ea typeface="Calibri"/>
                <a:cs typeface="Calibri"/>
              </a:rPr>
              <a:t>2520030431 – Varshini Bolla</a:t>
            </a:r>
          </a:p>
          <a:p>
            <a:r>
              <a:rPr lang="en-US" dirty="0">
                <a:solidFill>
                  <a:srgbClr val="0070C0"/>
                </a:solidFill>
                <a:latin typeface="Calibri"/>
                <a:ea typeface="Calibri"/>
                <a:cs typeface="Calibri"/>
              </a:rPr>
              <a:t>2520030436 – Eesha Yuktha</a:t>
            </a:r>
            <a:endParaRPr lang="en-US" dirty="0">
              <a:solidFill>
                <a:srgbClr val="0070C0"/>
              </a:solidFill>
              <a:effectLst/>
              <a:latin typeface="Calibri"/>
              <a:ea typeface="Calibri"/>
              <a:cs typeface="Calibri"/>
            </a:endParaRPr>
          </a:p>
          <a:p>
            <a:pPr marL="171450">
              <a:lnSpc>
                <a:spcPct val="107000"/>
              </a:lnSpc>
              <a:spcAft>
                <a:spcPts val="800"/>
              </a:spcAft>
            </a:pPr>
            <a:endPar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E158A221-1B6E-20A0-A4E3-10788AF9F6AA}"/>
              </a:ext>
            </a:extLst>
          </p:cNvPr>
          <p:cNvSpPr txBox="1"/>
          <p:nvPr/>
        </p:nvSpPr>
        <p:spPr>
          <a:xfrm>
            <a:off x="933450" y="1473200"/>
            <a:ext cx="10325100" cy="46130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latin typeface="Calibri"/>
                <a:ea typeface="+mn-lt"/>
                <a:cs typeface="Calibri"/>
              </a:rPr>
              <a:t>Modern servers generate large volumes of log data, making it difficult for system administrators to manually identify and analyze errors. This project proposes an Automated Log Error Monitoring System, implemented in Java, that detects recurring error patterns in massive server log files using efficient string-matching algorithms. Predefined error signatures are located with a Rabin-Karp rolling-hash multi-pattern scan, KMP supports ad-hoc pattern lookups, unmatched lines are grouped by edit-distance similarity, and a suffix array with an LCP array discovers new repeating patterns.</a:t>
            </a:r>
            <a:endParaRPr lang="en-US">
              <a:latin typeface="Calibri"/>
              <a:ea typeface="Calibri"/>
              <a:cs typeface="Calibri"/>
            </a:endParaRPr>
          </a:p>
          <a:p>
            <a:pPr>
              <a:lnSpc>
                <a:spcPct val="150000"/>
              </a:lnSpc>
            </a:pPr>
            <a:r>
              <a:rPr lang="en-US">
                <a:latin typeface="Calibri"/>
                <a:ea typeface="+mn-lt"/>
                <a:cs typeface="Calibri"/>
              </a:rPr>
              <a:t>Detected errors are categorized by frequency and severity, and advanced algorithms make the results actionable: bitmask DP selects signatures under a monitoring budget, interval DP merges time buckets into report windows, job sequencing prioritizes remediation, and network flow assigns tickets to on-call engineers. A 2-approximation Vertex Cover, randomised algorithms, and parallel primitives complete the analysis. The system also supports continuous monitoring of log files, detecting newly generated errors in real time, and generates summary reports containing error type, occurrence frequency, and severity level.</a:t>
            </a:r>
            <a:endParaRPr lang="en-US">
              <a:latin typeface="Calibri"/>
              <a:ea typeface="Calibri"/>
              <a:cs typeface="Calibri"/>
            </a:endParaRPr>
          </a:p>
          <a:p>
            <a:pPr algn="l">
              <a:lnSpc>
                <a:spcPct val="150000"/>
              </a:lnSpc>
            </a:pPr>
            <a:endParaRPr lang="en-US" dirty="0">
              <a:latin typeface="Times New Roman"/>
              <a:ea typeface="Calibri"/>
              <a:cs typeface="Times New Roman"/>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629122F3-89DE-D26F-CD57-7F7F7FDF615B}"/>
              </a:ext>
            </a:extLst>
          </p:cNvPr>
          <p:cNvSpPr txBox="1"/>
          <p:nvPr/>
        </p:nvSpPr>
        <p:spPr>
          <a:xfrm>
            <a:off x="1066800" y="1346199"/>
            <a:ext cx="9779000" cy="4619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latin typeface="Calibri"/>
                <a:ea typeface="+mn-lt"/>
                <a:cs typeface="Calibri"/>
              </a:rPr>
              <a:t>Modern servers and applications generate a large number of log files containing information about system activities, warnings, and errors.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Manually analyzing large log files is difficult, time-consuming, and inefficient.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Important error messages may be missed when logs contain thousands or millions of entries.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Recurring errors can indicate underlying problems in servers, applications, databases, or networks.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The proposed system automatically scans log files and detects predefined error signatures using a </a:t>
            </a:r>
            <a:r>
              <a:rPr lang="en-US" b="1">
                <a:latin typeface="Calibri"/>
                <a:ea typeface="+mn-lt"/>
                <a:cs typeface="Calibri"/>
              </a:rPr>
              <a:t>Rabin-Karp</a:t>
            </a:r>
            <a:r>
              <a:rPr lang="en-US">
                <a:latin typeface="Calibri"/>
                <a:ea typeface="+mn-lt"/>
                <a:cs typeface="Calibri"/>
              </a:rPr>
              <a:t> rolling-hash multi-pattern scan. </a:t>
            </a:r>
            <a:endParaRPr lang="en-US">
              <a:latin typeface="Calibri"/>
              <a:ea typeface="Calibri"/>
              <a:cs typeface="Calibri"/>
            </a:endParaRPr>
          </a:p>
          <a:p>
            <a:pPr marL="285750" indent="-285750">
              <a:lnSpc>
                <a:spcPct val="150000"/>
              </a:lnSpc>
              <a:buFont typeface="Arial"/>
              <a:buChar char="•"/>
            </a:pPr>
            <a:r>
              <a:rPr lang="en-US" b="1">
                <a:latin typeface="Calibri"/>
                <a:ea typeface="+mn-lt"/>
                <a:cs typeface="Calibri"/>
              </a:rPr>
              <a:t>KMP</a:t>
            </a:r>
            <a:r>
              <a:rPr lang="en-US">
                <a:latin typeface="Calibri"/>
                <a:ea typeface="+mn-lt"/>
                <a:cs typeface="Calibri"/>
              </a:rPr>
              <a:t> supports ad-hoc lookups, </a:t>
            </a:r>
            <a:r>
              <a:rPr lang="en-US" b="1">
                <a:latin typeface="Calibri"/>
                <a:ea typeface="+mn-lt"/>
                <a:cs typeface="Calibri"/>
              </a:rPr>
              <a:t>edit distance</a:t>
            </a:r>
            <a:r>
              <a:rPr lang="en-US">
                <a:latin typeface="Calibri"/>
                <a:ea typeface="+mn-lt"/>
                <a:cs typeface="Calibri"/>
              </a:rPr>
              <a:t> groups similar unmatched lines, and a </a:t>
            </a:r>
            <a:r>
              <a:rPr lang="en-US" b="1">
                <a:latin typeface="Calibri"/>
                <a:ea typeface="+mn-lt"/>
                <a:cs typeface="Calibri"/>
              </a:rPr>
              <a:t>suffix array + LCP array</a:t>
            </a:r>
            <a:r>
              <a:rPr lang="en-US">
                <a:latin typeface="Calibri"/>
                <a:ea typeface="+mn-lt"/>
                <a:cs typeface="Calibri"/>
              </a:rPr>
              <a:t> discovers new patterns.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Detected errors are categorized based on their </a:t>
            </a:r>
            <a:r>
              <a:rPr lang="en-US" b="1">
                <a:latin typeface="Calibri"/>
                <a:ea typeface="+mn-lt"/>
                <a:cs typeface="Calibri"/>
              </a:rPr>
              <a:t>type, frequency, and severity</a:t>
            </a:r>
            <a:r>
              <a:rPr lang="en-US">
                <a:latin typeface="Calibri"/>
                <a:ea typeface="+mn-lt"/>
                <a:cs typeface="Calibri"/>
              </a:rPr>
              <a:t> (Low, Medium, High, Critical). </a:t>
            </a:r>
            <a:endParaRPr lang="en-US">
              <a:latin typeface="Calibri"/>
              <a:ea typeface="Calibri"/>
              <a:cs typeface="Calibri"/>
            </a:endParaRPr>
          </a:p>
          <a:p>
            <a:pPr marL="285750" indent="-285750">
              <a:lnSpc>
                <a:spcPct val="150000"/>
              </a:lnSpc>
              <a:buFont typeface="Arial"/>
              <a:buChar char="•"/>
            </a:pPr>
            <a:r>
              <a:rPr lang="en-US" b="1">
                <a:latin typeface="Calibri"/>
                <a:ea typeface="+mn-lt"/>
                <a:cs typeface="Calibri"/>
              </a:rPr>
              <a:t>DP, network flow, Vertex Cover approximation, randomised and parallel algorithms</a:t>
            </a:r>
            <a:r>
              <a:rPr lang="en-US">
                <a:latin typeface="Calibri"/>
                <a:ea typeface="+mn-lt"/>
                <a:cs typeface="Calibri"/>
              </a:rPr>
              <a:t> turn detections into decisions. </a:t>
            </a:r>
            <a:endParaRPr lang="en-US">
              <a:latin typeface="Calibri"/>
              <a:ea typeface="Calibri"/>
              <a:cs typeface="Calibri"/>
            </a:endParaRPr>
          </a:p>
          <a:p>
            <a:pPr marL="285750" indent="-285750">
              <a:lnSpc>
                <a:spcPct val="150000"/>
              </a:lnSpc>
              <a:buFont typeface="Arial"/>
              <a:buChar char="•"/>
            </a:pPr>
            <a:r>
              <a:rPr lang="en-US">
                <a:latin typeface="Calibri"/>
                <a:ea typeface="+mn-lt"/>
                <a:cs typeface="Calibri"/>
              </a:rPr>
              <a:t>The system continuously monitors logs, detects newly appended errors in real time, and generates summary reports. </a:t>
            </a:r>
            <a:endParaRPr lang="en-US">
              <a:latin typeface="Calibri"/>
              <a:ea typeface="Calibri"/>
              <a:cs typeface="Calibri"/>
            </a:endParaRPr>
          </a:p>
          <a:p>
            <a:pPr algn="l">
              <a:lnSpc>
                <a:spcPct val="150000"/>
              </a:lnSpc>
            </a:pPr>
            <a:endParaRPr lang="en-US" dirty="0">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479AA1D5-D4DC-0BF3-B5AC-7CE32E712C26}"/>
              </a:ext>
            </a:extLst>
          </p:cNvPr>
          <p:cNvSpPr txBox="1"/>
          <p:nvPr/>
        </p:nvSpPr>
        <p:spPr>
          <a:xfrm>
            <a:off x="1003300" y="1308100"/>
            <a:ext cx="10350500" cy="55750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buFont typeface="Arial"/>
              <a:buChar char="•"/>
            </a:pPr>
            <a:r>
              <a:rPr lang="en-US" sz="2400">
                <a:ea typeface="+mn-lt"/>
                <a:cs typeface="+mn-lt"/>
              </a:rPr>
              <a:t>Large server logs are difficult to analyse manually. </a:t>
            </a:r>
            <a:endParaRPr lang="en-US" sz="2400">
              <a:ea typeface="Calibri"/>
              <a:cs typeface="Calibri"/>
            </a:endParaRPr>
          </a:p>
          <a:p>
            <a:pPr>
              <a:lnSpc>
                <a:spcPct val="150000"/>
              </a:lnSpc>
              <a:buFont typeface="Arial"/>
              <a:buChar char="•"/>
            </a:pPr>
            <a:r>
              <a:rPr lang="en-US" sz="2400">
                <a:ea typeface="+mn-lt"/>
                <a:cs typeface="+mn-lt"/>
              </a:rPr>
              <a:t>Traditional searching methods can be slow for large log files. </a:t>
            </a:r>
            <a:endParaRPr lang="en-US" sz="2400" dirty="0">
              <a:ea typeface="+mn-lt"/>
              <a:cs typeface="+mn-lt"/>
            </a:endParaRPr>
          </a:p>
          <a:p>
            <a:pPr>
              <a:lnSpc>
                <a:spcPct val="150000"/>
              </a:lnSpc>
              <a:buFont typeface="Arial"/>
              <a:buChar char="•"/>
            </a:pPr>
            <a:r>
              <a:rPr lang="en-US" sz="2400" b="1">
                <a:ea typeface="+mn-lt"/>
                <a:cs typeface="+mn-lt"/>
              </a:rPr>
              <a:t>KMP</a:t>
            </a:r>
            <a:r>
              <a:rPr lang="en-US" sz="2400">
                <a:ea typeface="+mn-lt"/>
                <a:cs typeface="+mn-lt"/>
              </a:rPr>
              <a:t> efficiently searches for individual patterns in linear time. </a:t>
            </a:r>
            <a:endParaRPr lang="en-US" sz="2400" dirty="0">
              <a:ea typeface="+mn-lt"/>
              <a:cs typeface="+mn-lt"/>
            </a:endParaRPr>
          </a:p>
          <a:p>
            <a:pPr>
              <a:lnSpc>
                <a:spcPct val="150000"/>
              </a:lnSpc>
              <a:buFont typeface="Arial"/>
              <a:buChar char="•"/>
            </a:pPr>
            <a:r>
              <a:rPr lang="en-US" sz="2400" b="1">
                <a:ea typeface="+mn-lt"/>
                <a:cs typeface="+mn-lt"/>
              </a:rPr>
              <a:t>Rabin-Karp</a:t>
            </a:r>
            <a:r>
              <a:rPr lang="en-US" sz="2400">
                <a:ea typeface="+mn-lt"/>
                <a:cs typeface="+mn-lt"/>
              </a:rPr>
              <a:t> uses a rolling hash to scan for multiple patterns. </a:t>
            </a:r>
            <a:endParaRPr lang="en-US" sz="2400" dirty="0">
              <a:ea typeface="+mn-lt"/>
              <a:cs typeface="+mn-lt"/>
            </a:endParaRPr>
          </a:p>
          <a:p>
            <a:pPr>
              <a:lnSpc>
                <a:spcPct val="150000"/>
              </a:lnSpc>
              <a:buFont typeface="Arial"/>
              <a:buChar char="•"/>
            </a:pPr>
            <a:r>
              <a:rPr lang="en-US" sz="2400" b="1">
                <a:ea typeface="+mn-lt"/>
                <a:cs typeface="+mn-lt"/>
              </a:rPr>
              <a:t>Edit distance</a:t>
            </a:r>
            <a:r>
              <a:rPr lang="en-US" sz="2400">
                <a:ea typeface="+mn-lt"/>
                <a:cs typeface="+mn-lt"/>
              </a:rPr>
              <a:t> clusters similar lines; </a:t>
            </a:r>
            <a:r>
              <a:rPr lang="en-US" sz="2400" b="1">
                <a:ea typeface="+mn-lt"/>
                <a:cs typeface="+mn-lt"/>
              </a:rPr>
              <a:t>suffix array + LCP</a:t>
            </a:r>
            <a:r>
              <a:rPr lang="en-US" sz="2400">
                <a:ea typeface="+mn-lt"/>
                <a:cs typeface="+mn-lt"/>
              </a:rPr>
              <a:t> finds new patterns. </a:t>
            </a:r>
          </a:p>
          <a:p>
            <a:pPr>
              <a:lnSpc>
                <a:spcPct val="150000"/>
              </a:lnSpc>
              <a:buFont typeface="Arial"/>
              <a:buChar char="•"/>
            </a:pPr>
            <a:r>
              <a:rPr lang="en-US" sz="2400" b="1">
                <a:ea typeface="+mn-lt"/>
                <a:cs typeface="+mn-lt"/>
              </a:rPr>
              <a:t>DP, network flow,</a:t>
            </a:r>
            <a:r>
              <a:rPr lang="en-US" sz="2400">
                <a:ea typeface="+mn-lt"/>
                <a:cs typeface="+mn-lt"/>
              </a:rPr>
              <a:t> and </a:t>
            </a:r>
            <a:r>
              <a:rPr lang="en-US" sz="2400" b="1">
                <a:ea typeface="+mn-lt"/>
                <a:cs typeface="+mn-lt"/>
              </a:rPr>
              <a:t>approximation</a:t>
            </a:r>
            <a:r>
              <a:rPr lang="en-US" sz="2400">
                <a:ea typeface="+mn-lt"/>
                <a:cs typeface="+mn-lt"/>
              </a:rPr>
              <a:t> algorithms support optimisation and assignment. </a:t>
            </a:r>
          </a:p>
          <a:p>
            <a:pPr>
              <a:lnSpc>
                <a:spcPct val="150000"/>
              </a:lnSpc>
              <a:buFont typeface="Arial"/>
              <a:buChar char="•"/>
            </a:pPr>
            <a:r>
              <a:rPr lang="en-US" sz="2400">
                <a:ea typeface="+mn-lt"/>
                <a:cs typeface="+mn-lt"/>
              </a:rPr>
              <a:t>This project combines these DSA concepts to automate log error detection. </a:t>
            </a:r>
            <a:endParaRPr lang="en-US" sz="2400" dirty="0">
              <a:ea typeface="Calibri"/>
              <a:cs typeface="Calibri"/>
            </a:endParaRPr>
          </a:p>
          <a:p>
            <a:pPr algn="l">
              <a:lnSpc>
                <a:spcPct val="150000"/>
              </a:lnSpc>
            </a:pPr>
            <a:endParaRPr lang="en-US" sz="2400"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B5562E70-A219-8877-455C-9989FF90D043}"/>
              </a:ext>
            </a:extLst>
          </p:cNvPr>
          <p:cNvSpPr txBox="1"/>
          <p:nvPr/>
        </p:nvSpPr>
        <p:spPr>
          <a:xfrm>
            <a:off x="1079500" y="1127525"/>
            <a:ext cx="9880599" cy="263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b="1">
                <a:ea typeface="+mn-lt"/>
                <a:cs typeface="+mn-lt"/>
              </a:rPr>
              <a:t>Problem Statement</a:t>
            </a:r>
            <a:endParaRPr lang="en-US" sz="1600" dirty="0">
              <a:ea typeface="+mn-lt"/>
              <a:cs typeface="+mn-lt"/>
            </a:endParaRPr>
          </a:p>
          <a:p>
            <a:pPr marL="285750" indent="-285750">
              <a:lnSpc>
                <a:spcPct val="150000"/>
              </a:lnSpc>
              <a:buFont typeface="Arial"/>
              <a:buChar char="•"/>
            </a:pPr>
            <a:r>
              <a:rPr lang="en-US" sz="1600">
                <a:ea typeface="+mn-lt"/>
                <a:cs typeface="+mn-lt"/>
              </a:rPr>
              <a:t>Server log files can contain a very large number of entries, making manual error detection difficult. </a:t>
            </a:r>
            <a:endParaRPr lang="en-US" sz="1600" dirty="0">
              <a:ea typeface="Calibri"/>
              <a:cs typeface="Calibri"/>
            </a:endParaRPr>
          </a:p>
          <a:p>
            <a:pPr marL="285750" indent="-285750">
              <a:lnSpc>
                <a:spcPct val="150000"/>
              </a:lnSpc>
              <a:buFont typeface="Arial"/>
              <a:buChar char="•"/>
            </a:pPr>
            <a:r>
              <a:rPr lang="en-US" sz="1600">
                <a:ea typeface="+mn-lt"/>
                <a:cs typeface="+mn-lt"/>
              </a:rPr>
              <a:t>Important errors may be overlooked during manual log analysis. </a:t>
            </a:r>
            <a:endParaRPr lang="en-US" sz="1600" dirty="0">
              <a:ea typeface="Calibri"/>
              <a:cs typeface="Calibri"/>
            </a:endParaRPr>
          </a:p>
          <a:p>
            <a:pPr marL="285750" indent="-285750">
              <a:lnSpc>
                <a:spcPct val="150000"/>
              </a:lnSpc>
              <a:buFont typeface="Arial"/>
              <a:buChar char="•"/>
            </a:pPr>
            <a:r>
              <a:rPr lang="en-US" sz="1600">
                <a:ea typeface="+mn-lt"/>
                <a:cs typeface="+mn-lt"/>
              </a:rPr>
              <a:t>Recurring errors are difficult to identify without automatically tracking their frequency. </a:t>
            </a:r>
            <a:endParaRPr lang="en-US" sz="1600" dirty="0">
              <a:ea typeface="Calibri"/>
              <a:cs typeface="Calibri"/>
            </a:endParaRPr>
          </a:p>
          <a:p>
            <a:pPr marL="285750" indent="-285750">
              <a:lnSpc>
                <a:spcPct val="150000"/>
              </a:lnSpc>
              <a:buFont typeface="Arial"/>
              <a:buChar char="•"/>
            </a:pPr>
            <a:r>
              <a:rPr lang="en-US" sz="1600" dirty="0">
                <a:ea typeface="+mn-lt"/>
                <a:cs typeface="+mn-lt"/>
              </a:rPr>
              <a:t>Administrators need a simple way to </a:t>
            </a:r>
            <a:r>
              <a:rPr lang="en-US" sz="1600">
                <a:ea typeface="+mn-lt"/>
                <a:cs typeface="+mn-lt"/>
              </a:rPr>
              <a:t>categorize</a:t>
            </a:r>
            <a:r>
              <a:rPr lang="en-US" sz="1600" dirty="0">
                <a:ea typeface="+mn-lt"/>
                <a:cs typeface="+mn-lt"/>
              </a:rPr>
              <a:t> errors according to their severity and occurrence. </a:t>
            </a:r>
            <a:endParaRPr lang="en-US" sz="1600" dirty="0">
              <a:ea typeface="Calibri"/>
              <a:cs typeface="Calibri"/>
            </a:endParaRPr>
          </a:p>
          <a:p>
            <a:pPr marL="285750" indent="-285750">
              <a:lnSpc>
                <a:spcPct val="150000"/>
              </a:lnSpc>
              <a:buFont typeface="Arial"/>
              <a:buChar char="•"/>
            </a:pPr>
            <a:r>
              <a:rPr lang="en-US" sz="1600">
                <a:ea typeface="+mn-lt"/>
                <a:cs typeface="+mn-lt"/>
              </a:rPr>
              <a:t>There is a requirement for continuous monitoring to detect newly generated errors in log files. </a:t>
            </a:r>
            <a:endParaRPr lang="en-US" sz="1600" dirty="0">
              <a:ea typeface="Calibri"/>
              <a:cs typeface="Calibri"/>
            </a:endParaRPr>
          </a:p>
          <a:p>
            <a:pPr marL="285750" indent="-285750" algn="l">
              <a:lnSpc>
                <a:spcPct val="150000"/>
              </a:lnSpc>
              <a:buFont typeface="Arial"/>
              <a:buChar char="•"/>
            </a:pPr>
            <a:endParaRPr lang="en-US" sz="1600" dirty="0">
              <a:ea typeface="Calibri"/>
              <a:cs typeface="Calibri"/>
            </a:endParaRPr>
          </a:p>
        </p:txBody>
      </p:sp>
      <p:sp>
        <p:nvSpPr>
          <p:cNvPr id="5" name="TextBox 4">
            <a:extLst>
              <a:ext uri="{FF2B5EF4-FFF2-40B4-BE49-F238E27FC236}">
                <a16:creationId xmlns:a16="http://schemas.microsoft.com/office/drawing/2014/main" id="{86C8311F-DEF3-006F-E44F-B1DFA40A7915}"/>
              </a:ext>
            </a:extLst>
          </p:cNvPr>
          <p:cNvSpPr txBox="1"/>
          <p:nvPr/>
        </p:nvSpPr>
        <p:spPr>
          <a:xfrm>
            <a:off x="1078859" y="3517686"/>
            <a:ext cx="9359366" cy="37394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b="1">
                <a:ea typeface="Calibri"/>
                <a:cs typeface="Calibri"/>
              </a:rPr>
              <a:t>Objectives:</a:t>
            </a:r>
            <a:endParaRPr lang="en-US" sz="1600">
              <a:ea typeface="Calibri"/>
              <a:cs typeface="Calibri"/>
            </a:endParaRPr>
          </a:p>
          <a:p>
            <a:pPr>
              <a:lnSpc>
                <a:spcPct val="150000"/>
              </a:lnSpc>
              <a:buFont typeface="Arial"/>
              <a:buChar char="•"/>
            </a:pPr>
            <a:r>
              <a:rPr lang="en-US" sz="1600">
                <a:ea typeface="+mn-lt"/>
                <a:cs typeface="+mn-lt"/>
              </a:rPr>
              <a:t>To automatically analyse server log files. </a:t>
            </a:r>
          </a:p>
          <a:p>
            <a:pPr>
              <a:lnSpc>
                <a:spcPct val="150000"/>
              </a:lnSpc>
              <a:buFont typeface="Arial"/>
              <a:buChar char="•"/>
            </a:pPr>
            <a:r>
              <a:rPr lang="en-US" sz="1600">
                <a:ea typeface="+mn-lt"/>
                <a:cs typeface="+mn-lt"/>
              </a:rPr>
              <a:t>To detect predefined error signatures using </a:t>
            </a:r>
            <a:r>
              <a:rPr lang="en-US" sz="1600" b="1">
                <a:ea typeface="+mn-lt"/>
                <a:cs typeface="+mn-lt"/>
              </a:rPr>
              <a:t>Rabin-Karp</a:t>
            </a:r>
            <a:r>
              <a:rPr lang="en-US" sz="1600">
                <a:ea typeface="+mn-lt"/>
                <a:cs typeface="+mn-lt"/>
              </a:rPr>
              <a:t>, with </a:t>
            </a:r>
            <a:r>
              <a:rPr lang="en-US" sz="1600" b="1">
                <a:ea typeface="+mn-lt"/>
                <a:cs typeface="+mn-lt"/>
              </a:rPr>
              <a:t>KMP</a:t>
            </a:r>
            <a:r>
              <a:rPr lang="en-US" sz="1600">
                <a:ea typeface="+mn-lt"/>
                <a:cs typeface="+mn-lt"/>
              </a:rPr>
              <a:t> for single-pattern lookup. </a:t>
            </a:r>
          </a:p>
          <a:p>
            <a:pPr>
              <a:lnSpc>
                <a:spcPct val="150000"/>
              </a:lnSpc>
              <a:buFont typeface="Arial"/>
              <a:buChar char="•"/>
            </a:pPr>
            <a:r>
              <a:rPr lang="en-US" sz="1600">
                <a:ea typeface="+mn-lt"/>
                <a:cs typeface="+mn-lt"/>
              </a:rPr>
              <a:t>To cluster unmatched lines by </a:t>
            </a:r>
            <a:r>
              <a:rPr lang="en-US" sz="1600" b="1">
                <a:ea typeface="+mn-lt"/>
                <a:cs typeface="+mn-lt"/>
              </a:rPr>
              <a:t>edit distance</a:t>
            </a:r>
            <a:r>
              <a:rPr lang="en-US" sz="1600">
                <a:ea typeface="+mn-lt"/>
                <a:cs typeface="+mn-lt"/>
              </a:rPr>
              <a:t> and discover new patterns with </a:t>
            </a:r>
            <a:r>
              <a:rPr lang="en-US" sz="1600" b="1">
                <a:ea typeface="+mn-lt"/>
                <a:cs typeface="+mn-lt"/>
              </a:rPr>
              <a:t>suffix array + LCP</a:t>
            </a:r>
            <a:r>
              <a:rPr lang="en-US" sz="1600">
                <a:ea typeface="+mn-lt"/>
                <a:cs typeface="+mn-lt"/>
              </a:rPr>
              <a:t>. </a:t>
            </a:r>
          </a:p>
          <a:p>
            <a:pPr>
              <a:lnSpc>
                <a:spcPct val="150000"/>
              </a:lnSpc>
              <a:buFont typeface="Arial"/>
              <a:buChar char="•"/>
            </a:pPr>
            <a:r>
              <a:rPr lang="en-US" sz="1600">
                <a:ea typeface="+mn-lt"/>
                <a:cs typeface="+mn-lt"/>
              </a:rPr>
              <a:t>To identify recurring errors, calculate their frequency, and classify them by severity. </a:t>
            </a:r>
          </a:p>
          <a:p>
            <a:pPr>
              <a:lnSpc>
                <a:spcPct val="150000"/>
              </a:lnSpc>
              <a:buFont typeface="Arial"/>
              <a:buChar char="•"/>
            </a:pPr>
            <a:r>
              <a:rPr lang="en-US" sz="1600">
                <a:ea typeface="+mn-lt"/>
                <a:cs typeface="+mn-lt"/>
              </a:rPr>
              <a:t>To optimise monitoring and reporting using </a:t>
            </a:r>
            <a:r>
              <a:rPr lang="en-US" sz="1600" b="1">
                <a:ea typeface="+mn-lt"/>
                <a:cs typeface="+mn-lt"/>
              </a:rPr>
              <a:t>bitmask DP, interval DP,</a:t>
            </a:r>
            <a:r>
              <a:rPr lang="en-US" sz="1600">
                <a:ea typeface="+mn-lt"/>
                <a:cs typeface="+mn-lt"/>
              </a:rPr>
              <a:t> and </a:t>
            </a:r>
            <a:r>
              <a:rPr lang="en-US" sz="1600" b="1">
                <a:ea typeface="+mn-lt"/>
                <a:cs typeface="+mn-lt"/>
              </a:rPr>
              <a:t>job sequencing</a:t>
            </a:r>
            <a:r>
              <a:rPr lang="en-US" sz="1600">
                <a:ea typeface="+mn-lt"/>
                <a:cs typeface="+mn-lt"/>
              </a:rPr>
              <a:t>. </a:t>
            </a:r>
          </a:p>
          <a:p>
            <a:pPr>
              <a:lnSpc>
                <a:spcPct val="150000"/>
              </a:lnSpc>
              <a:buFont typeface="Arial"/>
              <a:buChar char="•"/>
            </a:pPr>
            <a:r>
              <a:rPr lang="en-US" sz="1600">
                <a:ea typeface="+mn-lt"/>
                <a:cs typeface="+mn-lt"/>
              </a:rPr>
              <a:t>To assign tickets with </a:t>
            </a:r>
            <a:r>
              <a:rPr lang="en-US" sz="1600" b="1">
                <a:ea typeface="+mn-lt"/>
                <a:cs typeface="+mn-lt"/>
              </a:rPr>
              <a:t>network flow</a:t>
            </a:r>
            <a:r>
              <a:rPr lang="en-US" sz="1600">
                <a:ea typeface="+mn-lt"/>
                <a:cs typeface="+mn-lt"/>
              </a:rPr>
              <a:t> and select a core monitoring set with </a:t>
            </a:r>
            <a:r>
              <a:rPr lang="en-US" sz="1600" b="1">
                <a:ea typeface="+mn-lt"/>
                <a:cs typeface="+mn-lt"/>
              </a:rPr>
              <a:t>Vertex Cover</a:t>
            </a:r>
            <a:r>
              <a:rPr lang="en-US" sz="1600">
                <a:ea typeface="+mn-lt"/>
                <a:cs typeface="+mn-lt"/>
              </a:rPr>
              <a:t>. </a:t>
            </a:r>
          </a:p>
          <a:p>
            <a:pPr>
              <a:lnSpc>
                <a:spcPct val="150000"/>
              </a:lnSpc>
              <a:buFont typeface="Arial"/>
              <a:buChar char="•"/>
            </a:pPr>
            <a:r>
              <a:rPr lang="en-US" sz="1600">
                <a:ea typeface="+mn-lt"/>
                <a:cs typeface="+mn-lt"/>
              </a:rPr>
              <a:t>To support continuous monitoring and generate a summary report of detected errors. </a:t>
            </a:r>
          </a:p>
          <a:p>
            <a:pPr marL="285750" indent="-285750">
              <a:lnSpc>
                <a:spcPct val="150000"/>
              </a:lnSpc>
              <a:buFont typeface="Arial"/>
              <a:buChar char="•"/>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1" name="Log files"/>
          <p:cNvSpPr/>
          <p:nvPr/>
        </p:nvSpPr>
        <p:spPr>
          <a:xfrm>
            <a:off x="4446000" y="790000"/>
            <a:ext cx="3300000" cy="470000"/>
          </a:xfrm>
          <a:prstGeom prst="roundRect">
            <a:avLst>
              <a:gd name="adj" fmla="val 14000"/>
            </a:avLst>
          </a:prstGeom>
          <a:solidFill>
            <a:srgbClr val="F1EFE8"/>
          </a:solidFill>
          <a:ln w="9525">
            <a:solidFill>
              <a:srgbClr val="888780"/>
            </a:solidFill>
          </a:ln>
        </p:spPr>
        <p:txBody>
          <a:bodyPr wrap="square" lIns="45720" tIns="18288" rIns="45720" bIns="18288" rtlCol="0" anchor="ctr">
            <a:noAutofit/>
          </a:bodyPr>
          <a:lstStyle/>
          <a:p>
            <a:pPr algn="ctr"/>
            <a:r>
              <a:rPr lang="en-US" sz="1200" b="1" dirty="0">
                <a:solidFill>
                  <a:srgbClr val="444441"/>
                </a:solidFill>
              </a:rPr>
              <a:t>Server log files</a:t>
            </a:r>
          </a:p>
        </p:txBody>
      </p:sp>
      <p:sp>
        <p:nvSpPr>
          <p:cNvPr id="12" name="Load and parse"/>
          <p:cNvSpPr/>
          <p:nvPr/>
        </p:nvSpPr>
        <p:spPr>
          <a:xfrm>
            <a:off x="4446000" y="141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Load and parse log entries</a:t>
            </a:r>
          </a:p>
          <a:p>
            <a:pPr algn="ctr"/>
            <a:r>
              <a:rPr lang="en-US" sz="1000" dirty="0">
                <a:solidFill>
                  <a:srgbClr val="0F6E56"/>
                </a:solidFill>
              </a:rPr>
              <a:t>Timestamp, severity, message per line</a:t>
            </a:r>
          </a:p>
        </p:txBody>
      </p:sp>
      <p:sp>
        <p:nvSpPr>
          <p:cNvPr id="13" name="Rabin-Karp"/>
          <p:cNvSpPr/>
          <p:nvPr/>
        </p:nvSpPr>
        <p:spPr>
          <a:xfrm>
            <a:off x="1946000" y="2030000"/>
            <a:ext cx="39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Rabin-Karp matching</a:t>
            </a:r>
          </a:p>
          <a:p>
            <a:pPr algn="ctr"/>
            <a:r>
              <a:rPr lang="en-US" sz="1000" dirty="0">
                <a:solidFill>
                  <a:srgbClr val="0F6E56"/>
                </a:solidFill>
              </a:rPr>
              <a:t>Multi-pattern signature scan</a:t>
            </a:r>
          </a:p>
        </p:txBody>
      </p:sp>
      <p:sp>
        <p:nvSpPr>
          <p:cNvPr id="14" name="KMP"/>
          <p:cNvSpPr/>
          <p:nvPr/>
        </p:nvSpPr>
        <p:spPr>
          <a:xfrm>
            <a:off x="6346000" y="2030000"/>
            <a:ext cx="39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KMP matching</a:t>
            </a:r>
          </a:p>
          <a:p>
            <a:pPr algn="ctr"/>
            <a:r>
              <a:rPr lang="en-US" sz="1000" dirty="0">
                <a:solidFill>
                  <a:srgbClr val="0F6E56"/>
                </a:solidFill>
              </a:rPr>
              <a:t>Single-pattern corpus lookup</a:t>
            </a:r>
          </a:p>
        </p:txBody>
      </p:sp>
      <p:sp>
        <p:nvSpPr>
          <p:cNvPr id="15" name="Detect errors"/>
          <p:cNvSpPr/>
          <p:nvPr/>
        </p:nvSpPr>
        <p:spPr>
          <a:xfrm>
            <a:off x="4446000" y="265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Detect errors</a:t>
            </a:r>
          </a:p>
          <a:p>
            <a:pPr algn="ctr"/>
            <a:r>
              <a:rPr lang="en-US" sz="1000" dirty="0">
                <a:solidFill>
                  <a:srgbClr val="0F6E56"/>
                </a:solidFill>
              </a:rPr>
              <a:t>Count frequency, assign severity</a:t>
            </a:r>
          </a:p>
        </p:txBody>
      </p:sp>
      <p:sp>
        <p:nvSpPr>
          <p:cNvPr id="16" name="Edit distance"/>
          <p:cNvSpPr/>
          <p:nvPr/>
        </p:nvSpPr>
        <p:spPr>
          <a:xfrm>
            <a:off x="1946000" y="3270000"/>
            <a:ext cx="39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Edit-distance clustering</a:t>
            </a:r>
          </a:p>
          <a:p>
            <a:pPr algn="ctr"/>
            <a:r>
              <a:rPr lang="en-US" sz="1000" dirty="0">
                <a:solidFill>
                  <a:srgbClr val="0F6E56"/>
                </a:solidFill>
              </a:rPr>
              <a:t>Fuzzy-group unmatched lines</a:t>
            </a:r>
          </a:p>
        </p:txBody>
      </p:sp>
      <p:sp>
        <p:nvSpPr>
          <p:cNvPr id="17" name="Suffix array"/>
          <p:cNvSpPr/>
          <p:nvPr/>
        </p:nvSpPr>
        <p:spPr>
          <a:xfrm>
            <a:off x="6346000" y="3270000"/>
            <a:ext cx="39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Suffix array + LCP</a:t>
            </a:r>
          </a:p>
          <a:p>
            <a:pPr algn="ctr"/>
            <a:r>
              <a:rPr lang="en-US" sz="1000" dirty="0">
                <a:solidFill>
                  <a:srgbClr val="0F6E56"/>
                </a:solidFill>
              </a:rPr>
              <a:t>Discover new signatures</a:t>
            </a:r>
          </a:p>
        </p:txBody>
      </p:sp>
      <p:sp>
        <p:nvSpPr>
          <p:cNvPr id="18" name="Advanced analysis group"/>
          <p:cNvSpPr/>
          <p:nvPr/>
        </p:nvSpPr>
        <p:spPr>
          <a:xfrm>
            <a:off x="846000" y="3890000"/>
            <a:ext cx="10500000" cy="1440000"/>
          </a:xfrm>
          <a:prstGeom prst="roundRect">
            <a:avLst>
              <a:gd name="adj" fmla="val 6000"/>
            </a:avLst>
          </a:prstGeom>
          <a:noFill/>
          <a:ln w="12700">
            <a:solidFill>
              <a:srgbClr val="0F6E56"/>
            </a:solidFill>
            <a:prstDash val="dash"/>
          </a:ln>
        </p:spPr>
        <p:txBody>
          <a:bodyPr wrap="square" lIns="45720" tIns="27432" rIns="45720" bIns="18288" rtlCol="0" anchor="t">
            <a:noAutofit/>
          </a:bodyPr>
          <a:lstStyle/>
          <a:p>
            <a:pPr algn="ctr"/>
            <a:r>
              <a:rPr lang="en-US" sz="1100" b="1" dirty="0">
                <a:solidFill>
                  <a:srgbClr val="085041"/>
                </a:solidFill>
              </a:rPr>
              <a:t>Advanced analysis</a:t>
            </a:r>
          </a:p>
        </p:txBody>
      </p:sp>
      <p:sp>
        <p:nvSpPr>
          <p:cNvPr id="19" name="Bitmask DP"/>
          <p:cNvSpPr/>
          <p:nvPr/>
        </p:nvSpPr>
        <p:spPr>
          <a:xfrm>
            <a:off x="921000" y="419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Bitmask DP</a:t>
            </a:r>
          </a:p>
          <a:p>
            <a:pPr algn="ctr"/>
            <a:r>
              <a:rPr lang="en-US" sz="1000" dirty="0">
                <a:solidFill>
                  <a:srgbClr val="0F6E56"/>
                </a:solidFill>
              </a:rPr>
              <a:t>Signature subset selection</a:t>
            </a:r>
          </a:p>
        </p:txBody>
      </p:sp>
      <p:sp>
        <p:nvSpPr>
          <p:cNvPr id="20" name="Interval DP"/>
          <p:cNvSpPr/>
          <p:nvPr/>
        </p:nvSpPr>
        <p:spPr>
          <a:xfrm>
            <a:off x="4446000" y="419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Interval DP</a:t>
            </a:r>
          </a:p>
          <a:p>
            <a:pPr algn="ctr"/>
            <a:r>
              <a:rPr lang="en-US" sz="1000" dirty="0">
                <a:solidFill>
                  <a:srgbClr val="0F6E56"/>
                </a:solidFill>
              </a:rPr>
              <a:t>Report-window merging</a:t>
            </a:r>
          </a:p>
        </p:txBody>
      </p:sp>
      <p:sp>
        <p:nvSpPr>
          <p:cNvPr id="21" name="Job sequencing"/>
          <p:cNvSpPr/>
          <p:nvPr/>
        </p:nvSpPr>
        <p:spPr>
          <a:xfrm>
            <a:off x="7971000" y="419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Job sequencing</a:t>
            </a:r>
          </a:p>
          <a:p>
            <a:pPr algn="ctr"/>
            <a:r>
              <a:rPr lang="en-US" sz="1000" dirty="0">
                <a:solidFill>
                  <a:srgbClr val="0F6E56"/>
                </a:solidFill>
              </a:rPr>
              <a:t>Remediation priority</a:t>
            </a:r>
          </a:p>
        </p:txBody>
      </p:sp>
      <p:sp>
        <p:nvSpPr>
          <p:cNvPr id="22" name="Network flow (Edmonds-Karp)"/>
          <p:cNvSpPr/>
          <p:nvPr/>
        </p:nvSpPr>
        <p:spPr>
          <a:xfrm>
            <a:off x="921000" y="474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Network flow (Edmonds-Karp)</a:t>
            </a:r>
          </a:p>
          <a:p>
            <a:pPr algn="ctr"/>
            <a:r>
              <a:rPr lang="en-US" sz="1000" dirty="0">
                <a:solidFill>
                  <a:srgbClr val="0F6E56"/>
                </a:solidFill>
              </a:rPr>
              <a:t>Ticket assignment, min cut</a:t>
            </a:r>
          </a:p>
        </p:txBody>
      </p:sp>
      <p:sp>
        <p:nvSpPr>
          <p:cNvPr id="23" name="Vertex Cover"/>
          <p:cNvSpPr/>
          <p:nvPr/>
        </p:nvSpPr>
        <p:spPr>
          <a:xfrm>
            <a:off x="4446000" y="474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Vertex Cover</a:t>
            </a:r>
          </a:p>
          <a:p>
            <a:pPr algn="ctr"/>
            <a:r>
              <a:rPr lang="en-US" sz="1000" dirty="0">
                <a:solidFill>
                  <a:srgbClr val="0F6E56"/>
                </a:solidFill>
              </a:rPr>
              <a:t>2-approximation core set</a:t>
            </a:r>
          </a:p>
        </p:txBody>
      </p:sp>
      <p:sp>
        <p:nvSpPr>
          <p:cNvPr id="24" name="Randomised + parallel"/>
          <p:cNvSpPr/>
          <p:nvPr/>
        </p:nvSpPr>
        <p:spPr>
          <a:xfrm>
            <a:off x="7971000" y="474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Randomised + parallel</a:t>
            </a:r>
          </a:p>
          <a:p>
            <a:pPr algn="ctr"/>
            <a:r>
              <a:rPr lang="en-US" sz="1000" dirty="0">
                <a:solidFill>
                  <a:srgbClr val="0F6E56"/>
                </a:solidFill>
              </a:rPr>
              <a:t>Sampling, reduce, prefix sum</a:t>
            </a:r>
          </a:p>
        </p:txBody>
      </p:sp>
      <p:sp>
        <p:nvSpPr>
          <p:cNvPr id="25" name="Summary report"/>
          <p:cNvSpPr/>
          <p:nvPr/>
        </p:nvSpPr>
        <p:spPr>
          <a:xfrm>
            <a:off x="4446000" y="5480000"/>
            <a:ext cx="33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Generate summary report</a:t>
            </a:r>
          </a:p>
          <a:p>
            <a:pPr algn="ctr"/>
            <a:r>
              <a:rPr lang="en-US" sz="1000" dirty="0">
                <a:solidFill>
                  <a:srgbClr val="0F6E56"/>
                </a:solidFill>
              </a:rPr>
              <a:t>Type, frequency, severity</a:t>
            </a:r>
          </a:p>
        </p:txBody>
      </p:sp>
      <p:sp>
        <p:nvSpPr>
          <p:cNvPr id="26" name="Report delivered"/>
          <p:cNvSpPr/>
          <p:nvPr/>
        </p:nvSpPr>
        <p:spPr>
          <a:xfrm>
            <a:off x="4446000" y="6100000"/>
            <a:ext cx="3300000" cy="470000"/>
          </a:xfrm>
          <a:prstGeom prst="roundRect">
            <a:avLst>
              <a:gd name="adj" fmla="val 14000"/>
            </a:avLst>
          </a:prstGeom>
          <a:solidFill>
            <a:srgbClr val="F1EFE8"/>
          </a:solidFill>
          <a:ln w="9525">
            <a:solidFill>
              <a:srgbClr val="888780"/>
            </a:solidFill>
          </a:ln>
        </p:spPr>
        <p:txBody>
          <a:bodyPr wrap="square" lIns="45720" tIns="18288" rIns="45720" bIns="18288" rtlCol="0" anchor="ctr">
            <a:noAutofit/>
          </a:bodyPr>
          <a:lstStyle/>
          <a:p>
            <a:pPr algn="ctr"/>
            <a:r>
              <a:rPr lang="en-US" sz="1200" b="1" dirty="0">
                <a:solidFill>
                  <a:srgbClr val="444441"/>
                </a:solidFill>
              </a:rPr>
              <a:t>Report delivered to admin</a:t>
            </a:r>
          </a:p>
        </p:txBody>
      </p:sp>
      <p:sp>
        <p:nvSpPr>
          <p:cNvPr id="27" name="Continuous monitoring"/>
          <p:cNvSpPr/>
          <p:nvPr/>
        </p:nvSpPr>
        <p:spPr>
          <a:xfrm>
            <a:off x="8646000" y="790000"/>
            <a:ext cx="2500000" cy="470000"/>
          </a:xfrm>
          <a:prstGeom prst="roundRect">
            <a:avLst>
              <a:gd name="adj" fmla="val 14000"/>
            </a:avLst>
          </a:prstGeom>
          <a:solidFill>
            <a:srgbClr val="E1F5EE"/>
          </a:solidFill>
          <a:ln w="9525">
            <a:solidFill>
              <a:srgbClr val="0F6E56"/>
            </a:solidFill>
          </a:ln>
        </p:spPr>
        <p:txBody>
          <a:bodyPr wrap="square" lIns="45720" tIns="18288" rIns="45720" bIns="18288" rtlCol="0" anchor="ctr">
            <a:noAutofit/>
          </a:bodyPr>
          <a:lstStyle/>
          <a:p>
            <a:pPr algn="ctr"/>
            <a:r>
              <a:rPr lang="en-US" sz="1200" b="1" dirty="0">
                <a:solidFill>
                  <a:srgbClr val="085041"/>
                </a:solidFill>
              </a:rPr>
              <a:t>Continuous monitoring</a:t>
            </a:r>
          </a:p>
          <a:p>
            <a:pPr algn="ctr"/>
            <a:r>
              <a:rPr lang="en-US" sz="1000" dirty="0">
                <a:solidFill>
                  <a:srgbClr val="0F6E56"/>
                </a:solidFill>
              </a:rPr>
              <a:t>Live detection of new lines</a:t>
            </a:r>
          </a:p>
        </p:txBody>
      </p:sp>
      <p:cxnSp>
        <p:nvCxnSpPr>
          <p:cNvPr id="28" name="Arrow 28"/>
          <p:cNvCxnSpPr/>
          <p:nvPr/>
        </p:nvCxnSpPr>
        <p:spPr>
          <a:xfrm>
            <a:off x="6096000" y="1260000"/>
            <a:ext cx="0" cy="150000"/>
          </a:xfrm>
          <a:prstGeom prst="straightConnector1">
            <a:avLst/>
          </a:prstGeom>
          <a:ln w="19050">
            <a:solidFill>
              <a:srgbClr val="888780"/>
            </a:solidFill>
            <a:tailEnd type="arrow" w="med" len="med"/>
          </a:ln>
        </p:spPr>
      </p:cxnSp>
      <p:cxnSp>
        <p:nvCxnSpPr>
          <p:cNvPr id="29" name="Arrow 29"/>
          <p:cNvCxnSpPr/>
          <p:nvPr/>
        </p:nvCxnSpPr>
        <p:spPr>
          <a:xfrm flipH="1">
            <a:off x="3896000" y="1880000"/>
            <a:ext cx="2200000" cy="150000"/>
          </a:xfrm>
          <a:prstGeom prst="straightConnector1">
            <a:avLst/>
          </a:prstGeom>
          <a:ln w="19050">
            <a:solidFill>
              <a:srgbClr val="888780"/>
            </a:solidFill>
            <a:tailEnd type="arrow" w="med" len="med"/>
          </a:ln>
        </p:spPr>
      </p:cxnSp>
      <p:cxnSp>
        <p:nvCxnSpPr>
          <p:cNvPr id="30" name="Arrow 30"/>
          <p:cNvCxnSpPr/>
          <p:nvPr/>
        </p:nvCxnSpPr>
        <p:spPr>
          <a:xfrm>
            <a:off x="6096000" y="1880000"/>
            <a:ext cx="2200000" cy="150000"/>
          </a:xfrm>
          <a:prstGeom prst="straightConnector1">
            <a:avLst/>
          </a:prstGeom>
          <a:ln w="19050">
            <a:solidFill>
              <a:srgbClr val="888780"/>
            </a:solidFill>
            <a:tailEnd type="arrow" w="med" len="med"/>
          </a:ln>
        </p:spPr>
      </p:cxnSp>
      <p:cxnSp>
        <p:nvCxnSpPr>
          <p:cNvPr id="31" name="Arrow 31"/>
          <p:cNvCxnSpPr/>
          <p:nvPr/>
        </p:nvCxnSpPr>
        <p:spPr>
          <a:xfrm>
            <a:off x="3896000" y="2500000"/>
            <a:ext cx="2200000" cy="150000"/>
          </a:xfrm>
          <a:prstGeom prst="straightConnector1">
            <a:avLst/>
          </a:prstGeom>
          <a:ln w="19050">
            <a:solidFill>
              <a:srgbClr val="888780"/>
            </a:solidFill>
            <a:tailEnd type="arrow" w="med" len="med"/>
          </a:ln>
        </p:spPr>
      </p:cxnSp>
      <p:cxnSp>
        <p:nvCxnSpPr>
          <p:cNvPr id="32" name="Arrow 32"/>
          <p:cNvCxnSpPr/>
          <p:nvPr/>
        </p:nvCxnSpPr>
        <p:spPr>
          <a:xfrm flipH="1">
            <a:off x="6096000" y="2500000"/>
            <a:ext cx="2200000" cy="150000"/>
          </a:xfrm>
          <a:prstGeom prst="straightConnector1">
            <a:avLst/>
          </a:prstGeom>
          <a:ln w="19050">
            <a:solidFill>
              <a:srgbClr val="888780"/>
            </a:solidFill>
            <a:tailEnd type="arrow" w="med" len="med"/>
          </a:ln>
        </p:spPr>
      </p:cxnSp>
      <p:cxnSp>
        <p:nvCxnSpPr>
          <p:cNvPr id="33" name="Arrow 33"/>
          <p:cNvCxnSpPr/>
          <p:nvPr/>
        </p:nvCxnSpPr>
        <p:spPr>
          <a:xfrm flipH="1">
            <a:off x="3896000" y="3120000"/>
            <a:ext cx="2200000" cy="150000"/>
          </a:xfrm>
          <a:prstGeom prst="straightConnector1">
            <a:avLst/>
          </a:prstGeom>
          <a:ln w="19050">
            <a:solidFill>
              <a:srgbClr val="888780"/>
            </a:solidFill>
            <a:tailEnd type="arrow" w="med" len="med"/>
          </a:ln>
        </p:spPr>
      </p:cxnSp>
      <p:cxnSp>
        <p:nvCxnSpPr>
          <p:cNvPr id="34" name="Arrow 34"/>
          <p:cNvCxnSpPr/>
          <p:nvPr/>
        </p:nvCxnSpPr>
        <p:spPr>
          <a:xfrm>
            <a:off x="6096000" y="3120000"/>
            <a:ext cx="2200000" cy="150000"/>
          </a:xfrm>
          <a:prstGeom prst="straightConnector1">
            <a:avLst/>
          </a:prstGeom>
          <a:ln w="19050">
            <a:solidFill>
              <a:srgbClr val="888780"/>
            </a:solidFill>
            <a:tailEnd type="arrow" w="med" len="med"/>
          </a:ln>
        </p:spPr>
      </p:cxnSp>
      <p:cxnSp>
        <p:nvCxnSpPr>
          <p:cNvPr id="35" name="Arrow 35"/>
          <p:cNvCxnSpPr/>
          <p:nvPr/>
        </p:nvCxnSpPr>
        <p:spPr>
          <a:xfrm>
            <a:off x="3896000" y="3740000"/>
            <a:ext cx="2200000" cy="150000"/>
          </a:xfrm>
          <a:prstGeom prst="straightConnector1">
            <a:avLst/>
          </a:prstGeom>
          <a:ln w="19050">
            <a:solidFill>
              <a:srgbClr val="888780"/>
            </a:solidFill>
            <a:tailEnd type="arrow" w="med" len="med"/>
          </a:ln>
        </p:spPr>
      </p:cxnSp>
      <p:cxnSp>
        <p:nvCxnSpPr>
          <p:cNvPr id="36" name="Arrow 36"/>
          <p:cNvCxnSpPr/>
          <p:nvPr/>
        </p:nvCxnSpPr>
        <p:spPr>
          <a:xfrm flipH="1">
            <a:off x="6096000" y="3740000"/>
            <a:ext cx="2200000" cy="150000"/>
          </a:xfrm>
          <a:prstGeom prst="straightConnector1">
            <a:avLst/>
          </a:prstGeom>
          <a:ln w="19050">
            <a:solidFill>
              <a:srgbClr val="888780"/>
            </a:solidFill>
            <a:tailEnd type="arrow" w="med" len="med"/>
          </a:ln>
        </p:spPr>
      </p:cxnSp>
      <p:cxnSp>
        <p:nvCxnSpPr>
          <p:cNvPr id="37" name="Arrow 37"/>
          <p:cNvCxnSpPr/>
          <p:nvPr/>
        </p:nvCxnSpPr>
        <p:spPr>
          <a:xfrm>
            <a:off x="6096000" y="5330000"/>
            <a:ext cx="0" cy="150000"/>
          </a:xfrm>
          <a:prstGeom prst="straightConnector1">
            <a:avLst/>
          </a:prstGeom>
          <a:ln w="19050">
            <a:solidFill>
              <a:srgbClr val="888780"/>
            </a:solidFill>
            <a:tailEnd type="arrow" w="med" len="med"/>
          </a:ln>
        </p:spPr>
      </p:cxnSp>
      <p:cxnSp>
        <p:nvCxnSpPr>
          <p:cNvPr id="38" name="Arrow 38"/>
          <p:cNvCxnSpPr/>
          <p:nvPr/>
        </p:nvCxnSpPr>
        <p:spPr>
          <a:xfrm>
            <a:off x="6096000" y="5950000"/>
            <a:ext cx="0" cy="150000"/>
          </a:xfrm>
          <a:prstGeom prst="straightConnector1">
            <a:avLst/>
          </a:prstGeom>
          <a:ln w="19050">
            <a:solidFill>
              <a:srgbClr val="888780"/>
            </a:solidFill>
            <a:tailEnd type="arrow" w="med" len="med"/>
          </a:ln>
        </p:spPr>
      </p:cxnSp>
      <p:cxnSp>
        <p:nvCxnSpPr>
          <p:cNvPr id="39" name="Arrow 39"/>
          <p:cNvCxnSpPr/>
          <p:nvPr/>
        </p:nvCxnSpPr>
        <p:spPr>
          <a:xfrm>
            <a:off x="7746000" y="1025000"/>
            <a:ext cx="900000" cy="0"/>
          </a:xfrm>
          <a:prstGeom prst="straightConnector1">
            <a:avLst/>
          </a:prstGeom>
          <a:ln w="19050">
            <a:solidFill>
              <a:srgbClr val="888780"/>
            </a:solidFill>
            <a:tailEnd type="arrow"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B076BADC-922A-B406-F5E2-ABA8A8EB260C}"/>
              </a:ext>
            </a:extLst>
          </p:cNvPr>
          <p:cNvSpPr txBox="1"/>
          <p:nvPr/>
        </p:nvSpPr>
        <p:spPr>
          <a:xfrm>
            <a:off x="1782589" y="1088785"/>
            <a:ext cx="9766299" cy="57708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mn-lt"/>
                <a:cs typeface="+mn-lt"/>
              </a:rPr>
              <a:t>The system successfully reads and processes server log files. </a:t>
            </a:r>
            <a:endParaRPr lang="en-US">
              <a:ea typeface="Calibri"/>
              <a:cs typeface="Calibri"/>
            </a:endParaRPr>
          </a:p>
          <a:p>
            <a:pPr marL="285750" indent="-285750">
              <a:lnSpc>
                <a:spcPct val="150000"/>
              </a:lnSpc>
              <a:buFont typeface="Arial"/>
              <a:buChar char="•"/>
            </a:pPr>
            <a:r>
              <a:rPr lang="en-US">
                <a:ea typeface="+mn-lt"/>
                <a:cs typeface="+mn-lt"/>
              </a:rPr>
              <a:t>Predefined signatures are detected by a </a:t>
            </a:r>
            <a:r>
              <a:rPr lang="en-US" b="1">
                <a:ea typeface="+mn-lt"/>
                <a:cs typeface="+mn-lt"/>
              </a:rPr>
              <a:t>Rabin-Karp</a:t>
            </a:r>
            <a:r>
              <a:rPr lang="en-US">
                <a:ea typeface="+mn-lt"/>
                <a:cs typeface="+mn-lt"/>
              </a:rPr>
              <a:t> scan; </a:t>
            </a:r>
            <a:r>
              <a:rPr lang="en-US" b="1">
                <a:ea typeface="+mn-lt"/>
                <a:cs typeface="+mn-lt"/>
              </a:rPr>
              <a:t>KMP</a:t>
            </a:r>
            <a:r>
              <a:rPr lang="en-US">
                <a:ea typeface="+mn-lt"/>
                <a:cs typeface="+mn-lt"/>
              </a:rPr>
              <a:t> searches the full log corpus. </a:t>
            </a:r>
            <a:endParaRPr lang="en-US">
              <a:ea typeface="Calibri"/>
              <a:cs typeface="Calibri"/>
            </a:endParaRPr>
          </a:p>
          <a:p>
            <a:pPr marL="285750" indent="-285750">
              <a:lnSpc>
                <a:spcPct val="150000"/>
              </a:lnSpc>
              <a:buFont typeface="Arial"/>
              <a:buChar char="•"/>
            </a:pPr>
            <a:r>
              <a:rPr lang="en-US">
                <a:ea typeface="+mn-lt"/>
                <a:cs typeface="+mn-lt"/>
              </a:rPr>
              <a:t>Repeated occurrences are counted, and errors are categorised by severity (Low to Critical). </a:t>
            </a:r>
            <a:endParaRPr lang="en-US">
              <a:ea typeface="Calibri"/>
              <a:cs typeface="Calibri"/>
            </a:endParaRPr>
          </a:p>
          <a:p>
            <a:pPr marL="285750" indent="-285750">
              <a:lnSpc>
                <a:spcPct val="150000"/>
              </a:lnSpc>
              <a:buFont typeface="Arial"/>
              <a:buChar char="•"/>
            </a:pPr>
            <a:r>
              <a:rPr lang="en-US">
                <a:ea typeface="+mn-lt"/>
                <a:cs typeface="+mn-lt"/>
              </a:rPr>
              <a:t>Unmatched lines are grouped by </a:t>
            </a:r>
            <a:r>
              <a:rPr lang="en-US" b="1">
                <a:ea typeface="+mn-lt"/>
                <a:cs typeface="+mn-lt"/>
              </a:rPr>
              <a:t>edit distance</a:t>
            </a:r>
            <a:r>
              <a:rPr lang="en-US">
                <a:ea typeface="+mn-lt"/>
                <a:cs typeface="+mn-lt"/>
              </a:rPr>
              <a:t>; </a:t>
            </a:r>
            <a:r>
              <a:rPr lang="en-US" b="1">
                <a:ea typeface="+mn-lt"/>
                <a:cs typeface="+mn-lt"/>
              </a:rPr>
              <a:t>suffix array + LCP</a:t>
            </a:r>
            <a:r>
              <a:rPr lang="en-US">
                <a:ea typeface="+mn-lt"/>
                <a:cs typeface="+mn-lt"/>
              </a:rPr>
              <a:t> proposes new signatures. </a:t>
            </a:r>
            <a:endParaRPr lang="en-US">
              <a:ea typeface="Calibri"/>
              <a:cs typeface="Calibri"/>
            </a:endParaRPr>
          </a:p>
          <a:p>
            <a:pPr marL="285750" indent="-285750">
              <a:lnSpc>
                <a:spcPct val="150000"/>
              </a:lnSpc>
              <a:buFont typeface="Arial"/>
              <a:buChar char="•"/>
            </a:pPr>
            <a:r>
              <a:rPr lang="en-US" b="1">
                <a:ea typeface="+mn-lt"/>
                <a:cs typeface="+mn-lt"/>
              </a:rPr>
              <a:t>Bitmask DP</a:t>
            </a:r>
            <a:r>
              <a:rPr lang="en-US">
                <a:ea typeface="+mn-lt"/>
                <a:cs typeface="+mn-lt"/>
              </a:rPr>
              <a:t> picks signatures within a budget; </a:t>
            </a:r>
            <a:r>
              <a:rPr lang="en-US" b="1">
                <a:ea typeface="+mn-lt"/>
                <a:cs typeface="+mn-lt"/>
              </a:rPr>
              <a:t>interval DP</a:t>
            </a:r>
            <a:r>
              <a:rPr lang="en-US">
                <a:ea typeface="+mn-lt"/>
                <a:cs typeface="+mn-lt"/>
              </a:rPr>
              <a:t> merges buckets into report windows. </a:t>
            </a:r>
            <a:endParaRPr lang="en-US">
              <a:ea typeface="Calibri"/>
              <a:cs typeface="Calibri"/>
            </a:endParaRPr>
          </a:p>
          <a:p>
            <a:pPr marL="285750" indent="-285750">
              <a:lnSpc>
                <a:spcPct val="150000"/>
              </a:lnSpc>
              <a:buFont typeface="Arial"/>
              <a:buChar char="•"/>
            </a:pPr>
            <a:r>
              <a:rPr lang="en-US" b="1">
                <a:ea typeface="+mn-lt"/>
                <a:cs typeface="+mn-lt"/>
              </a:rPr>
              <a:t>Job sequencing</a:t>
            </a:r>
            <a:r>
              <a:rPr lang="en-US">
                <a:ea typeface="+mn-lt"/>
                <a:cs typeface="+mn-lt"/>
              </a:rPr>
              <a:t> ranks remediation tasks; </a:t>
            </a:r>
            <a:r>
              <a:rPr lang="en-US" b="1">
                <a:ea typeface="+mn-lt"/>
                <a:cs typeface="+mn-lt"/>
              </a:rPr>
              <a:t>network flow</a:t>
            </a:r>
            <a:r>
              <a:rPr lang="en-US">
                <a:ea typeface="+mn-lt"/>
                <a:cs typeface="+mn-lt"/>
              </a:rPr>
              <a:t> assigns tickets and finds bottlenecks. </a:t>
            </a:r>
            <a:endParaRPr lang="en-US">
              <a:ea typeface="Calibri"/>
              <a:cs typeface="Calibri"/>
            </a:endParaRPr>
          </a:p>
          <a:p>
            <a:pPr marL="285750" indent="-285750">
              <a:lnSpc>
                <a:spcPct val="150000"/>
              </a:lnSpc>
              <a:buFont typeface="Arial"/>
              <a:buChar char="•"/>
            </a:pPr>
            <a:r>
              <a:rPr lang="en-US" b="1">
                <a:ea typeface="+mn-lt"/>
                <a:cs typeface="+mn-lt"/>
              </a:rPr>
              <a:t>Vertex Cover</a:t>
            </a:r>
            <a:r>
              <a:rPr lang="en-US">
                <a:ea typeface="+mn-lt"/>
                <a:cs typeface="+mn-lt"/>
              </a:rPr>
              <a:t> (2-approximation), randomised, and parallel algorithms complete the analysis. </a:t>
            </a:r>
            <a:endParaRPr lang="en-US">
              <a:ea typeface="Calibri"/>
              <a:cs typeface="Calibri"/>
            </a:endParaRPr>
          </a:p>
          <a:p>
            <a:pPr marL="285750" indent="-285750">
              <a:lnSpc>
                <a:spcPct val="150000"/>
              </a:lnSpc>
              <a:buFont typeface="Arial"/>
              <a:buChar char="•"/>
            </a:pPr>
            <a:r>
              <a:rPr lang="en-US">
                <a:ea typeface="+mn-lt"/>
                <a:cs typeface="+mn-lt"/>
              </a:rPr>
              <a:t>Continuous monitoring detects newly appended log lines in real time. </a:t>
            </a:r>
            <a:endParaRPr lang="en-US">
              <a:ea typeface="Calibri"/>
              <a:cs typeface="Calibri"/>
            </a:endParaRPr>
          </a:p>
          <a:p>
            <a:pPr marL="285750" indent="-285750">
              <a:lnSpc>
                <a:spcPct val="150000"/>
              </a:lnSpc>
              <a:buFont typeface="Arial"/>
              <a:buChar char="•"/>
            </a:pPr>
            <a:r>
              <a:rPr lang="en-US">
                <a:ea typeface="+mn-lt"/>
                <a:cs typeface="+mn-lt"/>
              </a:rPr>
              <a:t>A summary report is generated containing: </a:t>
            </a:r>
            <a:endParaRPr lang="en-US">
              <a:ea typeface="Calibri"/>
              <a:cs typeface="Calibri"/>
            </a:endParaRPr>
          </a:p>
          <a:p>
            <a:pPr marL="285750" indent="-285750">
              <a:lnSpc>
                <a:spcPct val="150000"/>
              </a:lnSpc>
              <a:buFont typeface="Arial"/>
              <a:buChar char="•"/>
            </a:pPr>
            <a:r>
              <a:rPr lang="en-US">
                <a:ea typeface="+mn-lt"/>
                <a:cs typeface="+mn-lt"/>
              </a:rPr>
              <a:t>Error Type </a:t>
            </a:r>
            <a:endParaRPr lang="en-US">
              <a:ea typeface="Calibri"/>
              <a:cs typeface="Calibri"/>
            </a:endParaRPr>
          </a:p>
          <a:p>
            <a:pPr marL="285750" indent="-285750">
              <a:lnSpc>
                <a:spcPct val="150000"/>
              </a:lnSpc>
              <a:buFont typeface="Arial"/>
              <a:buChar char="•"/>
            </a:pPr>
            <a:r>
              <a:rPr lang="en-US">
                <a:ea typeface="+mn-lt"/>
                <a:cs typeface="+mn-lt"/>
              </a:rPr>
              <a:t>Number of Occurrences </a:t>
            </a:r>
            <a:endParaRPr lang="en-US">
              <a:ea typeface="Calibri"/>
              <a:cs typeface="Calibri"/>
            </a:endParaRPr>
          </a:p>
          <a:p>
            <a:pPr marL="285750" indent="-285750">
              <a:lnSpc>
                <a:spcPct val="150000"/>
              </a:lnSpc>
              <a:buFont typeface="Arial"/>
              <a:buChar char="•"/>
            </a:pPr>
            <a:r>
              <a:rPr lang="en-US">
                <a:ea typeface="+mn-lt"/>
                <a:cs typeface="+mn-lt"/>
              </a:rPr>
              <a:t>Severity Level </a:t>
            </a:r>
            <a:endParaRPr lang="en-US">
              <a:ea typeface="Calibri"/>
              <a:cs typeface="Calibri"/>
            </a:endParaRPr>
          </a:p>
          <a:p>
            <a:pPr marL="285750" indent="-285750">
              <a:lnSpc>
                <a:spcPct val="150000"/>
              </a:lnSpc>
              <a:buFont typeface="Arial"/>
              <a:buChar char="•"/>
            </a:pPr>
            <a:r>
              <a:rPr lang="en-US">
                <a:ea typeface="+mn-lt"/>
                <a:cs typeface="+mn-lt"/>
              </a:rPr>
              <a:t>The project shows how efficient DSA techniques process large text data. </a:t>
            </a:r>
            <a:endParaRPr lang="en-US">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212540" y="37729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888294" y="417664"/>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7F8A0716-25BA-D8E4-D892-2A07B1BDA1DC}"/>
              </a:ext>
            </a:extLst>
          </p:cNvPr>
          <p:cNvSpPr txBox="1"/>
          <p:nvPr/>
        </p:nvSpPr>
        <p:spPr>
          <a:xfrm>
            <a:off x="1283340" y="1478749"/>
            <a:ext cx="10274300" cy="50353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Hardware Requirements</a:t>
            </a:r>
            <a:endParaRPr lang="en-US" b="1">
              <a:ea typeface="Calibri"/>
              <a:cs typeface="Calibri"/>
            </a:endParaRPr>
          </a:p>
          <a:p>
            <a:pPr marL="285750" indent="-285750">
              <a:lnSpc>
                <a:spcPct val="150000"/>
              </a:lnSpc>
              <a:buFont typeface="Arial"/>
              <a:buChar char="•"/>
            </a:pPr>
            <a:r>
              <a:rPr lang="en-US">
                <a:ea typeface="+mn-lt"/>
                <a:cs typeface="+mn-lt"/>
              </a:rPr>
              <a:t>Computer or Laptop </a:t>
            </a:r>
          </a:p>
          <a:p>
            <a:pPr marL="285750" indent="-285750">
              <a:lnSpc>
                <a:spcPct val="150000"/>
              </a:lnSpc>
              <a:buFont typeface="Arial"/>
              <a:buChar char="•"/>
            </a:pPr>
            <a:r>
              <a:rPr lang="en-US">
                <a:ea typeface="+mn-lt"/>
                <a:cs typeface="+mn-lt"/>
              </a:rPr>
              <a:t>Minimum 4 GB RAM </a:t>
            </a:r>
          </a:p>
          <a:p>
            <a:pPr marL="285750" indent="-285750">
              <a:lnSpc>
                <a:spcPct val="150000"/>
              </a:lnSpc>
              <a:buFont typeface="Arial"/>
              <a:buChar char="•"/>
            </a:pPr>
            <a:r>
              <a:rPr lang="en-US">
                <a:ea typeface="+mn-lt"/>
                <a:cs typeface="+mn-lt"/>
              </a:rPr>
              <a:t>Minimum Dual-Core Processor </a:t>
            </a:r>
          </a:p>
          <a:p>
            <a:pPr marL="285750" indent="-285750">
              <a:lnSpc>
                <a:spcPct val="150000"/>
              </a:lnSpc>
              <a:buFont typeface="Arial"/>
              <a:buChar char="•"/>
            </a:pPr>
            <a:r>
              <a:rPr lang="en-US">
                <a:ea typeface="+mn-lt"/>
                <a:cs typeface="+mn-lt"/>
              </a:rPr>
              <a:t>Storage space for log files and generated reports </a:t>
            </a:r>
          </a:p>
          <a:p>
            <a:pPr>
              <a:lnSpc>
                <a:spcPct val="150000"/>
              </a:lnSpc>
            </a:pPr>
            <a:r>
              <a:rPr lang="en-US" b="1"/>
              <a:t>Software Requirements</a:t>
            </a:r>
            <a:endParaRPr lang="en-US" b="1">
              <a:ea typeface="Calibri"/>
              <a:cs typeface="Calibri"/>
            </a:endParaRPr>
          </a:p>
          <a:p>
            <a:pPr marL="285750" indent="-285750">
              <a:lnSpc>
                <a:spcPct val="150000"/>
              </a:lnSpc>
              <a:buFont typeface="Arial"/>
              <a:buChar char="•"/>
            </a:pPr>
            <a:r>
              <a:rPr lang="en-US">
                <a:ea typeface="+mn-lt"/>
                <a:cs typeface="+mn-lt"/>
              </a:rPr>
              <a:t>Operating System: Windows, Linux, or macOS </a:t>
            </a:r>
          </a:p>
          <a:p>
            <a:pPr marL="285750" indent="-285750">
              <a:lnSpc>
                <a:spcPct val="150000"/>
              </a:lnSpc>
              <a:buFont typeface="Arial"/>
              <a:buChar char="•"/>
            </a:pPr>
            <a:r>
              <a:rPr lang="en-US">
                <a:ea typeface="+mn-lt"/>
                <a:cs typeface="+mn-lt"/>
              </a:rPr>
              <a:t>Programming Language: </a:t>
            </a:r>
            <a:r>
              <a:rPr lang="en-US" b="1">
                <a:ea typeface="+mn-lt"/>
                <a:cs typeface="+mn-lt"/>
              </a:rPr>
              <a:t>Java</a:t>
            </a:r>
            <a:r>
              <a:rPr lang="en-US">
                <a:ea typeface="+mn-lt"/>
                <a:cs typeface="+mn-lt"/>
              </a:rPr>
              <a:t> </a:t>
            </a:r>
            <a:r>
              <a:rPr lang="en-US" i="1">
                <a:ea typeface="+mn-lt"/>
                <a:cs typeface="+mn-lt"/>
              </a:rPr>
              <a:t>(JDK 14 or later)</a:t>
            </a:r>
            <a:r>
              <a:rPr lang="en-US">
                <a:ea typeface="+mn-lt"/>
                <a:cs typeface="+mn-lt"/>
              </a:rPr>
              <a:t> </a:t>
            </a:r>
          </a:p>
          <a:p>
            <a:pPr marL="285750" indent="-285750">
              <a:lnSpc>
                <a:spcPct val="150000"/>
              </a:lnSpc>
              <a:buFont typeface="Arial"/>
              <a:buChar char="•"/>
            </a:pPr>
            <a:r>
              <a:rPr lang="en-US">
                <a:ea typeface="+mn-lt"/>
                <a:cs typeface="+mn-lt"/>
              </a:rPr>
              <a:t>IDE: VS Code / IntelliJ IDEA / Eclipse </a:t>
            </a:r>
          </a:p>
          <a:p>
            <a:pPr marL="285750" indent="-285750">
              <a:lnSpc>
                <a:spcPct val="150000"/>
              </a:lnSpc>
              <a:buFont typeface="Arial"/>
              <a:buChar char="•"/>
            </a:pPr>
            <a:r>
              <a:rPr lang="en-US">
                <a:ea typeface="+mn-lt"/>
                <a:cs typeface="+mn-lt"/>
              </a:rPr>
              <a:t>Sample server log file for testing (data/sample_server.log) </a:t>
            </a:r>
          </a:p>
          <a:p>
            <a:pPr marL="285750" indent="-285750">
              <a:lnSpc>
                <a:spcPct val="150000"/>
              </a:lnSpc>
              <a:buFont typeface="Arial"/>
              <a:buChar char="•"/>
            </a:pPr>
            <a:r>
              <a:rPr lang="en-US">
                <a:ea typeface="+mn-lt"/>
                <a:cs typeface="+mn-lt"/>
              </a:rPr>
              <a:t>Java standard libraries: java.nio.file, java.time, and Fork/Join </a:t>
            </a:r>
          </a:p>
          <a:p>
            <a:pPr algn="l">
              <a:lnSpc>
                <a:spcPct val="150000"/>
              </a:lnSpc>
            </a:pPr>
            <a:endParaRPr lang="en-US" dirty="0">
              <a:ea typeface="Calibri"/>
              <a:cs typeface="Calibri"/>
            </a:endParaRP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170401B8-E853-DA7D-DB6C-4B283A00ECC3}"/>
              </a:ext>
            </a:extLst>
          </p:cNvPr>
          <p:cNvSpPr txBox="1"/>
          <p:nvPr/>
        </p:nvSpPr>
        <p:spPr>
          <a:xfrm>
            <a:off x="711200" y="1473200"/>
            <a:ext cx="10794999" cy="41088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mn-lt"/>
                <a:cs typeface="+mn-lt"/>
              </a:rPr>
              <a:t>The Automated Log Error Monitoring System provides a simple solution for analysing large server log files. </a:t>
            </a:r>
            <a:endParaRPr lang="en-US" dirty="0">
              <a:ea typeface="Calibri"/>
              <a:cs typeface="Calibri"/>
            </a:endParaRPr>
          </a:p>
          <a:p>
            <a:pPr marL="285750" indent="-285750">
              <a:lnSpc>
                <a:spcPct val="150000"/>
              </a:lnSpc>
              <a:buFont typeface="Arial"/>
              <a:buChar char="•"/>
            </a:pPr>
            <a:r>
              <a:rPr lang="en-US">
                <a:ea typeface="+mn-lt"/>
                <a:cs typeface="+mn-lt"/>
              </a:rPr>
              <a:t>It automates the detection of predefined error signatures using </a:t>
            </a:r>
            <a:r>
              <a:rPr lang="en-US" b="1">
                <a:ea typeface="+mn-lt"/>
                <a:cs typeface="+mn-lt"/>
              </a:rPr>
              <a:t>Rabin-Karp</a:t>
            </a:r>
            <a:r>
              <a:rPr lang="en-US">
                <a:ea typeface="+mn-lt"/>
                <a:cs typeface="+mn-lt"/>
              </a:rPr>
              <a:t> and </a:t>
            </a:r>
            <a:r>
              <a:rPr lang="en-US" b="1">
                <a:ea typeface="+mn-lt"/>
                <a:cs typeface="+mn-lt"/>
              </a:rPr>
              <a:t>KMP</a:t>
            </a:r>
            <a:r>
              <a:rPr lang="en-US">
                <a:ea typeface="+mn-lt"/>
                <a:cs typeface="+mn-lt"/>
              </a:rPr>
              <a:t> string matching. </a:t>
            </a:r>
            <a:endParaRPr lang="en-US">
              <a:ea typeface="Calibri"/>
              <a:cs typeface="Calibri"/>
            </a:endParaRPr>
          </a:p>
          <a:p>
            <a:pPr marL="285750" indent="-285750">
              <a:lnSpc>
                <a:spcPct val="150000"/>
              </a:lnSpc>
              <a:buFont typeface="Arial"/>
              <a:buChar char="•"/>
            </a:pPr>
            <a:r>
              <a:rPr lang="en-US" b="1">
                <a:ea typeface="+mn-lt"/>
                <a:cs typeface="+mn-lt"/>
              </a:rPr>
              <a:t>Edit distance</a:t>
            </a:r>
            <a:r>
              <a:rPr lang="en-US">
                <a:ea typeface="+mn-lt"/>
                <a:cs typeface="+mn-lt"/>
              </a:rPr>
              <a:t> clustering and </a:t>
            </a:r>
            <a:r>
              <a:rPr lang="en-US" b="1">
                <a:ea typeface="+mn-lt"/>
                <a:cs typeface="+mn-lt"/>
              </a:rPr>
              <a:t>suffix array + LCP</a:t>
            </a:r>
            <a:r>
              <a:rPr lang="en-US">
                <a:ea typeface="+mn-lt"/>
                <a:cs typeface="+mn-lt"/>
              </a:rPr>
              <a:t> discovery catch similar and previously unknown errors. </a:t>
            </a:r>
            <a:endParaRPr lang="en-US">
              <a:ea typeface="Calibri"/>
              <a:cs typeface="Calibri"/>
            </a:endParaRPr>
          </a:p>
          <a:p>
            <a:pPr marL="285750" indent="-285750">
              <a:lnSpc>
                <a:spcPct val="150000"/>
              </a:lnSpc>
              <a:buFont typeface="Arial"/>
              <a:buChar char="•"/>
            </a:pPr>
            <a:r>
              <a:rPr lang="en-US">
                <a:ea typeface="+mn-lt"/>
                <a:cs typeface="+mn-lt"/>
              </a:rPr>
              <a:t>Error frequency analysis and severity-based categorisation help prioritise critical issues. </a:t>
            </a:r>
            <a:endParaRPr lang="en-US">
              <a:ea typeface="Calibri"/>
              <a:cs typeface="Calibri"/>
            </a:endParaRPr>
          </a:p>
          <a:p>
            <a:pPr marL="285750" indent="-285750">
              <a:lnSpc>
                <a:spcPct val="150000"/>
              </a:lnSpc>
              <a:buFont typeface="Arial"/>
              <a:buChar char="•"/>
            </a:pPr>
            <a:r>
              <a:rPr lang="en-US" b="1">
                <a:ea typeface="+mn-lt"/>
                <a:cs typeface="+mn-lt"/>
              </a:rPr>
              <a:t>DP, job sequencing,</a:t>
            </a:r>
            <a:r>
              <a:rPr lang="en-US">
                <a:ea typeface="+mn-lt"/>
                <a:cs typeface="+mn-lt"/>
              </a:rPr>
              <a:t> and </a:t>
            </a:r>
            <a:r>
              <a:rPr lang="en-US" b="1">
                <a:ea typeface="+mn-lt"/>
                <a:cs typeface="+mn-lt"/>
              </a:rPr>
              <a:t>network flow</a:t>
            </a:r>
            <a:r>
              <a:rPr lang="en-US">
                <a:ea typeface="+mn-lt"/>
                <a:cs typeface="+mn-lt"/>
              </a:rPr>
              <a:t> turn detections into monitoring, remediation, and assignment plans. </a:t>
            </a:r>
            <a:endParaRPr lang="en-US" dirty="0">
              <a:ea typeface="Calibri"/>
              <a:cs typeface="Calibri"/>
            </a:endParaRPr>
          </a:p>
          <a:p>
            <a:pPr marL="285750" indent="-285750">
              <a:lnSpc>
                <a:spcPct val="150000"/>
              </a:lnSpc>
              <a:buFont typeface="Arial"/>
              <a:buChar char="•"/>
            </a:pPr>
            <a:r>
              <a:rPr lang="en-US" b="1">
                <a:ea typeface="+mn-lt"/>
                <a:cs typeface="+mn-lt"/>
              </a:rPr>
              <a:t>Vertex Cover</a:t>
            </a:r>
            <a:r>
              <a:rPr lang="en-US">
                <a:ea typeface="+mn-lt"/>
                <a:cs typeface="+mn-lt"/>
              </a:rPr>
              <a:t> approximation, randomised, and parallel algorithms add provable, sampled, and scalable analysis. </a:t>
            </a:r>
            <a:endParaRPr lang="en-US">
              <a:ea typeface="Calibri"/>
              <a:cs typeface="Calibri"/>
            </a:endParaRPr>
          </a:p>
          <a:p>
            <a:pPr marL="285750" indent="-285750">
              <a:lnSpc>
                <a:spcPct val="150000"/>
              </a:lnSpc>
              <a:buFont typeface="Arial"/>
              <a:buChar char="•"/>
            </a:pPr>
            <a:r>
              <a:rPr lang="en-US">
                <a:ea typeface="+mn-lt"/>
                <a:cs typeface="+mn-lt"/>
              </a:rPr>
              <a:t>Continuous monitoring detects new errors in real time, reducing manual effort and speeding up fault identification. </a:t>
            </a:r>
            <a:endParaRPr lang="en-US">
              <a:ea typeface="Calibri"/>
              <a:cs typeface="Calibri"/>
            </a:endParaRPr>
          </a:p>
          <a:p>
            <a:pPr marL="285750" indent="-285750">
              <a:lnSpc>
                <a:spcPct val="150000"/>
              </a:lnSpc>
              <a:buFont typeface="Arial"/>
              <a:buChar char="•"/>
            </a:pPr>
            <a:r>
              <a:rPr lang="en-US">
                <a:ea typeface="+mn-lt"/>
                <a:cs typeface="+mn-lt"/>
              </a:rPr>
              <a:t>Overall, the system demonstrates how Data Structures and Algorithms can be applied to solve real-world system monitoring problems. </a:t>
            </a:r>
            <a:endParaRPr lang="en-US">
              <a:ea typeface="Calibri"/>
              <a:cs typeface="Calibri"/>
            </a:endParaRPr>
          </a:p>
          <a:p>
            <a:pPr algn="l"/>
            <a:endParaRPr lang="en-US" dirty="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DB7FA8C8-A81B-08F9-D7A9-D4CFE059D8B3}"/>
              </a:ext>
            </a:extLst>
          </p:cNvPr>
          <p:cNvSpPr txBox="1"/>
          <p:nvPr/>
        </p:nvSpPr>
        <p:spPr>
          <a:xfrm>
            <a:off x="1371600" y="1384300"/>
            <a:ext cx="9321800" cy="4619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mn-lt"/>
                <a:cs typeface="+mn-lt"/>
              </a:rPr>
              <a:t>Integration with live server and application log streams beyond file watching. </a:t>
            </a:r>
            <a:endParaRPr lang="en-US"/>
          </a:p>
          <a:p>
            <a:pPr marL="285750" indent="-285750">
              <a:lnSpc>
                <a:spcPct val="150000"/>
              </a:lnSpc>
              <a:buFont typeface="Arial"/>
              <a:buChar char="•"/>
            </a:pPr>
            <a:r>
              <a:rPr lang="en-US">
                <a:ea typeface="+mn-lt"/>
                <a:cs typeface="+mn-lt"/>
              </a:rPr>
              <a:t>Support for a larger number of log formats. </a:t>
            </a:r>
          </a:p>
          <a:p>
            <a:pPr marL="285750" indent="-285750">
              <a:lnSpc>
                <a:spcPct val="150000"/>
              </a:lnSpc>
              <a:buFont typeface="Arial"/>
              <a:buChar char="•"/>
            </a:pPr>
            <a:r>
              <a:rPr lang="en-US">
                <a:ea typeface="+mn-lt"/>
                <a:cs typeface="+mn-lt"/>
              </a:rPr>
              <a:t>Automatic promotion of patterns discovered by suffix array + LCP into new known signatures. </a:t>
            </a:r>
          </a:p>
          <a:p>
            <a:pPr marL="285750" indent="-285750">
              <a:lnSpc>
                <a:spcPct val="150000"/>
              </a:lnSpc>
              <a:buFont typeface="Arial"/>
              <a:buChar char="•"/>
            </a:pPr>
            <a:r>
              <a:rPr lang="en-US">
                <a:ea typeface="+mn-lt"/>
                <a:cs typeface="+mn-lt"/>
              </a:rPr>
              <a:t>Integration of Machine Learning for anomaly and error detection. </a:t>
            </a:r>
          </a:p>
          <a:p>
            <a:pPr marL="285750" indent="-285750">
              <a:lnSpc>
                <a:spcPct val="150000"/>
              </a:lnSpc>
              <a:buFont typeface="Arial"/>
              <a:buChar char="•"/>
            </a:pPr>
            <a:r>
              <a:rPr lang="en-US">
                <a:ea typeface="+mn-lt"/>
                <a:cs typeface="+mn-lt"/>
              </a:rPr>
              <a:t>Development of a graphical dashboard for visualising error statistics. </a:t>
            </a:r>
          </a:p>
          <a:p>
            <a:pPr marL="285750" indent="-285750">
              <a:lnSpc>
                <a:spcPct val="150000"/>
              </a:lnSpc>
              <a:buFont typeface="Arial"/>
              <a:buChar char="•"/>
            </a:pPr>
            <a:r>
              <a:rPr lang="en-US">
                <a:ea typeface="+mn-lt"/>
                <a:cs typeface="+mn-lt"/>
              </a:rPr>
              <a:t>Real-time alert notifications through email or messaging services. </a:t>
            </a:r>
          </a:p>
          <a:p>
            <a:pPr marL="285750" indent="-285750">
              <a:lnSpc>
                <a:spcPct val="150000"/>
              </a:lnSpc>
              <a:buFont typeface="Arial"/>
              <a:buChar char="•"/>
            </a:pPr>
            <a:r>
              <a:rPr lang="en-US">
                <a:ea typeface="+mn-lt"/>
                <a:cs typeface="+mn-lt"/>
              </a:rPr>
              <a:t>Support for distributed and cloud-based server monitoring. </a:t>
            </a:r>
          </a:p>
          <a:p>
            <a:pPr marL="285750" indent="-285750">
              <a:lnSpc>
                <a:spcPct val="150000"/>
              </a:lnSpc>
              <a:buFont typeface="Arial"/>
              <a:buChar char="•"/>
            </a:pPr>
            <a:r>
              <a:rPr lang="en-US">
                <a:ea typeface="+mn-lt"/>
                <a:cs typeface="+mn-lt"/>
              </a:rPr>
              <a:t>Loading engineer capacities and error categories from configuration instead of fixed values. </a:t>
            </a:r>
          </a:p>
          <a:p>
            <a:pPr marL="285750" indent="-285750">
              <a:lnSpc>
                <a:spcPct val="150000"/>
              </a:lnSpc>
              <a:buFont typeface="Arial"/>
              <a:buChar char="•"/>
            </a:pPr>
            <a:r>
              <a:rPr lang="en-US">
                <a:ea typeface="+mn-lt"/>
                <a:cs typeface="+mn-lt"/>
              </a:rPr>
              <a:t>Integration with databases to store historical error information. </a:t>
            </a:r>
          </a:p>
          <a:p>
            <a:pPr marL="285750" indent="-285750">
              <a:lnSpc>
                <a:spcPct val="150000"/>
              </a:lnSpc>
              <a:buFont typeface="Arial"/>
              <a:buChar char="•"/>
            </a:pPr>
            <a:r>
              <a:rPr lang="en-US">
                <a:ea typeface="+mn-lt"/>
                <a:cs typeface="+mn-lt"/>
              </a:rPr>
              <a:t>Analysis of error trends to predict possible future system failures. </a:t>
            </a:r>
          </a:p>
          <a:p>
            <a:pPr algn="l">
              <a:lnSpc>
                <a:spcPct val="150000"/>
              </a:lnSpc>
            </a:pPr>
            <a:endParaRPr lang="en-US"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Data Structures and Algorithms -3 (25CS2103E) Automated Log Error Monitoring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153</cp:revision>
  <dcterms:created xsi:type="dcterms:W3CDTF">2024-08-29T05:25:00Z</dcterms:created>
  <dcterms:modified xsi:type="dcterms:W3CDTF">2026-10-01T09:22:23Z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